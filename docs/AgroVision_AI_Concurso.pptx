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Importancia de variables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Importancia</c:v>
                </c:pt>
              </c:strCache>
            </c:strRef>
          </c:tx>
          <c:spPr>
            <a:solidFill>
              <a:srgbClr val="52B7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Cultivo</c:v>
                  </c:pt>
                  <c:pt idx="1">
                    <c:v>Grupo cultivo</c:v>
                  </c:pt>
                  <c:pt idx="2">
                    <c:v>Área sembrada</c:v>
                  </c:pt>
                  <c:pt idx="3">
                    <c:v>Departamento</c:v>
                  </c:pt>
                  <c:pt idx="4">
                    <c:v>Año</c:v>
                  </c:pt>
                  <c:pt idx="5">
                    <c:v>Periodo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47.19</c:v>
                </c:pt>
                <c:pt idx="1">
                  <c:v>25.4</c:v>
                </c:pt>
                <c:pt idx="2">
                  <c:v>15.47</c:v>
                </c:pt>
                <c:pt idx="3">
                  <c:v>11.94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AgroVision AI como sistema integral. Enfatizar que usa 5 fuentes de datos abiertos y cubre todo el territorio colombiano.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que el sector agropecuario colombiano carece de herramientas que conecten datos climáticos con producción real. AgroVision AI nació para resolver exactamente esta brecha.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objetivo conecta directamente con los criterios del concurso: datos abiertos, IA, impacto en agricultura colombiana.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Resaltar que todas las fuentes son datos abiertos y oficiales. EVA con 145,000 registros es la columna vertebral del modelo 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Destacar que toda la IA corre en el contenedor ai-service (FastAPI) y es independiente del frontend. El backend NestJS maneja autenticación y persistencia.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dashboard tiene 8 secciones integradas. Cada una consume datos de fuentes distintas y se actualiza en tiempo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se entrena con datos reales de EVA. El cultivo es la variable más predictiva (47%) — tiene sentido agronómicamente. MAE de 3.4 t/ha es razonable dado el rango de cultivos.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muestra el diferenciador principal. Ningún otro sistema público en Colombia conecta ONI real de NOAA con impacto específico por cultivo y departamento.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Relacionar cada impacto con los criterios de evaluación del concurso. El impacto en seguridad alimentaria es especialmente relevante para UPRA.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calidad de datos es un criterio explícito del concurso. Mostrar que tenemos deduplicación, validación y manejo correcto de nulos demuestra madurez técnica.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cierre. Enfatizar que AgroVision AI es un sistema funcional, no un prototipo. Está desplegado con Docker, usa datos reales y el modelo está entrenado.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2D6A4F">
              <a:alpha val="30000"/>
            </a:srgbClr>
          </a:solidFill>
          <a:ln w="12700">
            <a:solidFill>
              <a:srgbClr val="2D6A4F">
                <a:alpha val="3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80160" y="713232"/>
            <a:ext cx="3474720" cy="411480"/>
          </a:xfrm>
          <a:prstGeom prst="roundRect">
            <a:avLst>
              <a:gd name="adj" fmla="val 11111"/>
            </a:avLst>
          </a:prstGeom>
          <a:solidFill>
            <a:srgbClr val="52B788">
              <a:alpha val="20000"/>
            </a:srgbClr>
          </a:solidFill>
          <a:ln w="12700">
            <a:solidFill>
              <a:srgbClr val="52B788">
                <a:alpha val="5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280160" y="71323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E4C7"/>
                </a:solidFill>
              </a:rPr>
              <a:t>Concurso Datos al Ecosistema 2026 – Ministerio TIC · ID 31 July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AgroVision AI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548640" y="2651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Inteligencia Agroclimática para Colombia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3291840"/>
            <a:ext cx="27432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429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E4C7"/>
                </a:solidFill>
              </a:rPr>
              <a:t>Monitoreo climático · Predicción ML · Alertas agrícolas · Escenarios ENSO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840480"/>
            <a:ext cx="5486400" cy="384048"/>
          </a:xfrm>
          <a:prstGeom prst="roundRect">
            <a:avLst>
              <a:gd name="adj" fmla="val 14286"/>
            </a:avLst>
          </a:prstGeom>
          <a:solidFill>
            <a:srgbClr val="0D1B2A">
              <a:alpha val="70000"/>
            </a:srgbClr>
          </a:solidFill>
          <a:ln w="12700">
            <a:solidFill>
              <a:srgbClr val="52B788">
                <a:alpha val="6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84048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E4C7"/>
                </a:solidFill>
              </a:rPr>
              <a:t>ID 31 July Quintero  ·  Ministerio TIC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4370832"/>
            <a:ext cx="1508760" cy="320040"/>
          </a:xfrm>
          <a:prstGeom prst="roundRect">
            <a:avLst>
              <a:gd name="adj" fmla="val 14286"/>
            </a:avLst>
          </a:prstGeom>
          <a:solidFill>
            <a:srgbClr val="0D1B2A">
              <a:alpha val="60000"/>
            </a:srgbClr>
          </a:solidFill>
          <a:ln w="12700">
            <a:solidFill>
              <a:srgbClr val="52B788">
                <a:alpha val="7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37083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E4C7"/>
                </a:solidFill>
              </a:rPr>
              <a:t>EVA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194560" y="4370832"/>
            <a:ext cx="1508760" cy="320040"/>
          </a:xfrm>
          <a:prstGeom prst="roundRect">
            <a:avLst>
              <a:gd name="adj" fmla="val 14286"/>
            </a:avLst>
          </a:prstGeom>
          <a:solidFill>
            <a:srgbClr val="0D1B2A">
              <a:alpha val="60000"/>
            </a:srgbClr>
          </a:solidFill>
          <a:ln w="12700">
            <a:solidFill>
              <a:srgbClr val="52B788">
                <a:alpha val="7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194560" y="437083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E4C7"/>
                </a:solidFill>
              </a:rPr>
              <a:t>NASA POWER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840480" y="4370832"/>
            <a:ext cx="1508760" cy="320040"/>
          </a:xfrm>
          <a:prstGeom prst="roundRect">
            <a:avLst>
              <a:gd name="adj" fmla="val 14286"/>
            </a:avLst>
          </a:prstGeom>
          <a:solidFill>
            <a:srgbClr val="0D1B2A">
              <a:alpha val="60000"/>
            </a:srgbClr>
          </a:solidFill>
          <a:ln w="12700">
            <a:solidFill>
              <a:srgbClr val="52B788">
                <a:alpha val="7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0" y="437083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E4C7"/>
                </a:solidFill>
              </a:rPr>
              <a:t>NOAA/CPC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486400" y="4370832"/>
            <a:ext cx="1508760" cy="320040"/>
          </a:xfrm>
          <a:prstGeom prst="roundRect">
            <a:avLst>
              <a:gd name="adj" fmla="val 14286"/>
            </a:avLst>
          </a:prstGeom>
          <a:solidFill>
            <a:srgbClr val="0D1B2A">
              <a:alpha val="60000"/>
            </a:srgbClr>
          </a:solidFill>
          <a:ln w="12700">
            <a:solidFill>
              <a:srgbClr val="52B788">
                <a:alpha val="7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0" y="437083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E4C7"/>
                </a:solidFill>
              </a:rPr>
              <a:t>OpenWeather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132320" y="4370832"/>
            <a:ext cx="1508760" cy="320040"/>
          </a:xfrm>
          <a:prstGeom prst="roundRect">
            <a:avLst>
              <a:gd name="adj" fmla="val 14286"/>
            </a:avLst>
          </a:prstGeom>
          <a:solidFill>
            <a:srgbClr val="0D1B2A">
              <a:alpha val="60000"/>
            </a:srgbClr>
          </a:solidFill>
          <a:ln w="12700">
            <a:solidFill>
              <a:srgbClr val="52B788">
                <a:alpha val="7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32320" y="437083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E4C7"/>
                </a:solidFill>
              </a:rPr>
              <a:t>DANE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4440" y="1463040"/>
            <a:ext cx="914400" cy="914400"/>
          </a:xfrm>
          <a:prstGeom prst="ellipse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>
                <a:alpha val="85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6459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514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fragmentada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30632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productores rurales no tienen acceso a información climática y agrícola consolidada para tomar decisiones de siembra y cosecha.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128016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069080" y="1463040"/>
            <a:ext cx="914400" cy="914400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85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64592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00400" y="2514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predicción de riesgos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37560" y="30632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existen herramientas públicas que conecten datos ENSO con impactos reales sobre cultivos específicos por departamento.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128016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03720" y="1463040"/>
            <a:ext cx="914400" cy="914400"/>
          </a:xfrm>
          <a:prstGeom prst="ellipse">
            <a:avLst/>
          </a:prstGeom>
          <a:solidFill>
            <a:srgbClr val="DC2626">
              <a:alpha val="85000"/>
            </a:srgbClr>
          </a:solidFill>
          <a:ln w="12700">
            <a:solidFill>
              <a:srgbClr val="DC2626">
                <a:alpha val="8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4592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35040" y="2514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tardías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172200" y="30632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alertas climáticas no llegan oportunamente a los agricultores, generando pérdidas evitables en producción y área cosechada.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65760" y="4663440"/>
            <a:ext cx="8412480" cy="384048"/>
          </a:xfrm>
          <a:prstGeom prst="roundRect">
            <a:avLst>
              <a:gd name="adj" fmla="val 14286"/>
            </a:avLst>
          </a:prstGeom>
          <a:solidFill>
            <a:srgbClr val="1B4332">
              <a:alpha val="9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🌾  Colombia tiene más de 145,000 evaluaciones agropecuarias disponibles en datos abiertos — sin herramientas que las aprovechen para la toma de decisiones.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2D6A4F">
              <a:alpha val="30000"/>
            </a:srgbClr>
          </a:solidFill>
          <a:ln w="12700">
            <a:solidFill>
              <a:srgbClr val="2D6A4F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2B788"/>
                </a:solidFill>
              </a:rPr>
              <a:t>Objetivo General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Desarrollar una plataforma de inteligencia agroclimática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conecte datos abiertos con IA predictiva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apoyar la toma de decisiones del sector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agropecuario colombiano.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319272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2918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E4C7"/>
                </a:solidFill>
              </a:rPr>
              <a:t>Integrar 5 fuentes de datos abiertos en tiempo real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30752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37033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E4C7"/>
                </a:solidFill>
              </a:rPr>
              <a:t>Predecir rendimiento agrícola con modelo ML (Random Forest)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42232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4400" y="41148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E4C7"/>
                </a:solidFill>
              </a:rPr>
              <a:t>Generar alertas automáticas ante condiciones de riesgo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553712"/>
            <a:ext cx="256032" cy="2560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14400" y="45262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E4C7"/>
                </a:solidFill>
              </a:rPr>
              <a:t>Modelar escenarios de impacto ENSO por cultivo y región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de Datos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29844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B4332">
              <a:alpha val="85000"/>
            </a:srgbClr>
          </a:solidFill>
          <a:ln w="12700">
            <a:solidFill>
              <a:srgbClr val="1B4332">
                <a:alpha val="7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35331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2984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EVA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" y="157276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UPRA / MinAgricultura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84048" y="19659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145,000+ evaluaciones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agropecuarias 2019-2024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32 departamentos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54680" y="118872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64408" y="129844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891B2">
              <a:alpha val="85000"/>
            </a:srgbClr>
          </a:solidFill>
          <a:ln w="12700">
            <a:solidFill>
              <a:srgbClr val="0891B2">
                <a:alpha val="70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1353312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40480" y="12984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NASA POWER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840480" y="157276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NASA / LARC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264408" y="19659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Clima diario histórico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Temperatura · Precipitación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Humedad · Radiación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35040" y="118872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44768" y="129844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40AF">
              <a:alpha val="85000"/>
            </a:srgbClr>
          </a:solidFill>
          <a:ln w="12700">
            <a:solidFill>
              <a:srgbClr val="1E40AF">
                <a:alpha val="70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353312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20840" y="12984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NOAA / CPC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720840" y="157276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NOAA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144768" y="19659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Índice ONI en tiempo real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Fase ENSO actual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Histórico trimestral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1581912" y="310896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691640" y="32186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369A1">
              <a:alpha val="85000"/>
            </a:srgbClr>
          </a:solidFill>
          <a:ln w="12700">
            <a:solidFill>
              <a:srgbClr val="0369A1">
                <a:alpha val="70000"/>
              </a:srgbClr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6504" y="3273552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267712" y="32186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OpenWeather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2267712" y="349300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OpenWeatherMap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691640" y="38862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Clima actual en tiempo real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Por capital departamental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Actualizado cada hora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462272" y="310896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72000" y="32186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D6A4F">
              <a:alpha val="85000"/>
            </a:srgbClr>
          </a:solidFill>
          <a:ln w="12700">
            <a:solidFill>
              <a:srgbClr val="2D6A4F">
                <a:alpha val="70000"/>
              </a:srgbClr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864" y="3273552"/>
            <a:ext cx="384048" cy="38404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148072" y="32186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DANE DIVIPOLA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5148072" y="349300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DANE Colombia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4572000" y="38862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Códigos municipales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Geografía administrativa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División político-territorial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Técnica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E4C7"/>
                </a:solidFill>
              </a:rPr>
              <a:t>Stack moderno · Contenedores Docker · Microservicios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51760" cy="3566160"/>
          </a:xfrm>
          <a:prstGeom prst="roundRect">
            <a:avLst>
              <a:gd name="adj" fmla="val 4828"/>
            </a:avLst>
          </a:prstGeom>
          <a:solidFill>
            <a:srgbClr val="1B4332">
              <a:alpha val="40000"/>
            </a:srgbClr>
          </a:solidFill>
          <a:ln w="12700">
            <a:solidFill>
              <a:srgbClr val="0891B2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2651760" cy="640080"/>
          </a:xfrm>
          <a:prstGeom prst="roundRect">
            <a:avLst>
              <a:gd name="adj" fmla="val 20000"/>
            </a:avLst>
          </a:prstGeom>
          <a:solidFill>
            <a:srgbClr val="0891B2">
              <a:alpha val="80000"/>
            </a:srgbClr>
          </a:solidFill>
          <a:ln w="12700">
            <a:solidFill>
              <a:srgbClr val="0891B2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88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Next.js 16 · TypeScript · Tailwind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450592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774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</a:rPr>
              <a:t>Dashboard interactivo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0358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</a:rPr>
              <a:t>8 secciones especializadas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67328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69417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</a:rPr>
              <a:t>Recharts · Tiempo real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1188720"/>
            <a:ext cx="2651760" cy="3566160"/>
          </a:xfrm>
          <a:prstGeom prst="roundRect">
            <a:avLst>
              <a:gd name="adj" fmla="val 4828"/>
            </a:avLst>
          </a:prstGeom>
          <a:solidFill>
            <a:srgbClr val="1B4332">
              <a:alpha val="40000"/>
            </a:srgbClr>
          </a:solidFill>
          <a:ln w="12700">
            <a:solidFill>
              <a:srgbClr val="52B788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1188720"/>
            <a:ext cx="2651760" cy="640080"/>
          </a:xfrm>
          <a:prstGeom prst="roundRect">
            <a:avLst>
              <a:gd name="adj" fmla="val 20000"/>
            </a:avLst>
          </a:prstGeom>
          <a:solidFill>
            <a:srgbClr val="52B788">
              <a:alpha val="80000"/>
            </a:srgbClr>
          </a:solidFill>
          <a:ln w="12700">
            <a:solidFill>
              <a:srgbClr val="52B788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188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Backend IA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7472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2B788"/>
                </a:solidFill>
              </a:rPr>
              <a:t>FastAPI · Python 3.12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20440" y="2450592"/>
            <a:ext cx="146304" cy="146304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23774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</a:rPr>
              <a:t>APIs EVA / NASA / NOAA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20440" y="3108960"/>
            <a:ext cx="146304" cy="146304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30358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</a:rPr>
              <a:t>Modelo ML Random Forest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20440" y="3767328"/>
            <a:ext cx="146304" cy="146304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369417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</a:rPr>
              <a:t>Cache PostgreSQL TTL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1188720"/>
            <a:ext cx="2651760" cy="3566160"/>
          </a:xfrm>
          <a:prstGeom prst="roundRect">
            <a:avLst>
              <a:gd name="adj" fmla="val 4828"/>
            </a:avLst>
          </a:prstGeom>
          <a:solidFill>
            <a:srgbClr val="1B4332">
              <a:alpha val="4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1188720"/>
            <a:ext cx="2651760" cy="640080"/>
          </a:xfrm>
          <a:prstGeom prst="roundRect">
            <a:avLst>
              <a:gd name="adj" fmla="val 20000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1188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Infraestructura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3796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Docker Compose · PostgreSQL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83680" y="2450592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23774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</a:rPr>
              <a:t>5 contenedores orquestados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83680" y="310896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12280" y="30358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</a:rPr>
              <a:t>Volúmenes persistentes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83680" y="376732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369417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</a:rPr>
              <a:t>NestJS · Prisma ORM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926080" y="2971800"/>
            <a:ext cx="411480" cy="0"/>
          </a:xfrm>
          <a:prstGeom prst="line">
            <a:avLst/>
          </a:prstGeom>
          <a:noFill/>
          <a:ln w="19050">
            <a:solidFill>
              <a:srgbClr val="B7E4C7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5989320" y="2971800"/>
            <a:ext cx="411480" cy="0"/>
          </a:xfrm>
          <a:prstGeom prst="line">
            <a:avLst/>
          </a:prstGeom>
          <a:noFill/>
          <a:ln w="19050">
            <a:solidFill>
              <a:srgbClr val="B7E4C7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Productos del Sistema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325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☀️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Clima NASA POWER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2148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14 días históricos por departamento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04872" y="118872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04872" y="1325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🌤️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96312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Tiempo Real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96312" y="2148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OpenWeather por capital departamental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81144" y="118872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81144" y="1325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🌊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72584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Monitor ENSO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72584" y="2148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ONI en tiempo real · NOAA/CPC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57416" y="118872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57416" y="1325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🌾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48856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Datos EVA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48856" y="2148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145k registros · 32 departamentos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297180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28600" y="3108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0040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Alertas Climáticas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Sequía · Inundación · Helada · Calor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04872" y="297180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404872" y="3108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496312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Escenarios IA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96312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El Niño / La Niña · Predicción ML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81144" y="297180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81144" y="3108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672584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Mapa de Riesgo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72584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Visualización geográfica nacional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757416" y="297180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757416" y="3108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848856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Predicción IA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48856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Riesgo climático por región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IA — Random Forest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B4332">
              <a:alpha val="90000"/>
            </a:srgbClr>
          </a:solidFill>
          <a:ln w="12700">
            <a:solidFill>
              <a:srgbClr val="1B4332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12,177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9933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Registros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 entrenamiento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18872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0891B2">
              <a:alpha val="90000"/>
            </a:srgbClr>
          </a:solidFill>
          <a:ln w="12700">
            <a:solidFill>
              <a:srgbClr val="0891B2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2344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468880" y="19933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(error t/ha)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18872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2D6A4F">
              <a:alpha val="90000"/>
            </a:srgbClr>
          </a:solidFill>
          <a:ln w="12700">
            <a:solidFill>
              <a:srgbClr val="2D6A4F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2344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60.4%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72000" y="19933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R²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varianza explicada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118872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59E0B">
              <a:alpha val="9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2344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675120" y="19933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Departamentos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cubiertos</a:t>
            </a:r>
            <a:endParaRPr lang="en-US" sz="10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365760" y="2697480"/>
          <a:ext cx="59436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6492240" y="2697480"/>
            <a:ext cx="2377440" cy="2103120"/>
          </a:xfrm>
          <a:prstGeom prst="roundRect">
            <a:avLst>
              <a:gd name="adj" fmla="val 4348"/>
            </a:avLst>
          </a:prstGeom>
          <a:solidFill>
            <a:srgbClr val="1B4332">
              <a:alpha val="9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92240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7E4C7"/>
                </a:solidFill>
              </a:rPr>
              <a:t>Pipeline ML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83680" y="31089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</a:rPr>
              <a:t>1  Descarga 20,000 registros EVA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583680" y="343814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</a:rPr>
              <a:t>2  Deduplica por municipio + cultivo + año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583680" y="37673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</a:rPr>
              <a:t>3  Codifica con LabelEncoder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583680" y="40965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</a:rPr>
              <a:t>4  Split 80/20 · Entrena Random Forest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583680" y="44256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</a:rPr>
              <a:t>5  Métricas MAE y R² persistidas en JSON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Diferenciador Clave: Monitor ENSO + Escenarios IA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3931920" cy="3749040"/>
          </a:xfrm>
          <a:prstGeom prst="roundRect">
            <a:avLst>
              <a:gd name="adj" fmla="val 3415"/>
            </a:avLst>
          </a:prstGeom>
          <a:solidFill>
            <a:srgbClr val="1B4332">
              <a:alpha val="50000"/>
            </a:srgbClr>
          </a:solidFill>
          <a:ln w="12700">
            <a:solidFill>
              <a:srgbClr val="52B788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E4C7"/>
                </a:solidFill>
              </a:rPr>
              <a:t>🌊  Monitor ENSO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B788"/>
                </a:solidFill>
              </a:rPr>
              <a:t>Datos reales NOAA/CPC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28016" cy="128016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202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</a:rPr>
              <a:t>Índice ONI en tiempo real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32304"/>
            <a:ext cx="128016" cy="128016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4086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</a:rPr>
              <a:t>Fase: El Niño / La Niña / Neutro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52928"/>
            <a:ext cx="128016" cy="128016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7614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</a:rPr>
              <a:t>Probabilidades próximo trimestre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73552"/>
            <a:ext cx="128016" cy="128016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182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</a:rPr>
              <a:t>Impacto esperado en Colombia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94176"/>
            <a:ext cx="128016" cy="128016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60273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</a:rPr>
              <a:t>Gráfica histórica ONI 3 años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128016" cy="128016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</a:rPr>
              <a:t>Cultivos en riesgo por fase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005840"/>
            <a:ext cx="4297680" cy="3749040"/>
          </a:xfrm>
          <a:prstGeom prst="roundRect">
            <a:avLst>
              <a:gd name="adj" fmla="val 3415"/>
            </a:avLst>
          </a:prstGeom>
          <a:solidFill>
            <a:srgbClr val="1B4332">
              <a:alpha val="5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🤖  Escenarios Predictivos IA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09160" y="160020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7F1D1D">
              <a:alpha val="70000"/>
            </a:srgbClr>
          </a:solidFill>
          <a:ln w="12700">
            <a:solidFill>
              <a:srgbClr val="EF4444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6642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A5A5"/>
                </a:solidFill>
              </a:rPr>
              <a:t>☀️  El Niño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1993392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</a:rPr>
              <a:t>Lluvias ↓ 35%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</a:rPr>
              <a:t>Temp ↑ 1.5°C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</a:rPr>
              <a:t>Producción ↓ 18%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</a:rPr>
              <a:t>Riesgo: Alto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12280" y="160020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1E3A5F">
              <a:alpha val="70000"/>
            </a:srgbClr>
          </a:solidFill>
          <a:ln w="12700">
            <a:solidFill>
              <a:srgbClr val="3B82F6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16642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3C5FD"/>
                </a:solidFill>
              </a:rPr>
              <a:t>🌊  La Niña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03720" y="1993392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</a:rPr>
              <a:t>Lluvias ↑ 40%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</a:rPr>
              <a:t>Temp ↓ 0.8°C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</a:rPr>
              <a:t>Producción ↓ 8%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</a:rPr>
              <a:t>Riesgo: Medio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09160" y="32461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E4C7"/>
                </a:solidFill>
              </a:rPr>
              <a:t>Seleccionable por departamento y cultivo · Recomendaciones automatizadas · Detecta escenario activo en tiempo real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3840480"/>
            <a:ext cx="4069080" cy="685800"/>
          </a:xfrm>
          <a:prstGeom prst="roundRect">
            <a:avLst>
              <a:gd name="adj" fmla="val 10667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84048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⭐  Criterios del concurso: Uso de IA (20 pts) · Impacto (20 pts) · Innovación (15 pts)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 Esperado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80160"/>
            <a:ext cx="914400" cy="502920"/>
          </a:xfrm>
          <a:prstGeom prst="roundRect">
            <a:avLst>
              <a:gd name="adj" fmla="val 12727"/>
            </a:avLst>
          </a:prstGeom>
          <a:solidFill>
            <a:srgbClr val="1B4332">
              <a:alpha val="85000"/>
            </a:srgbClr>
          </a:solidFill>
          <a:ln w="12700">
            <a:solidFill>
              <a:srgbClr val="1B4332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</a:rPr>
              <a:t>32 depts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2801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Decisiones basadas en datos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Productores y entidades territoriales fundamentan estrategias de siembra y gestión con información real, no con intuición.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80160"/>
            <a:ext cx="914400" cy="502920"/>
          </a:xfrm>
          <a:prstGeom prst="roundRect">
            <a:avLst>
              <a:gd name="adj" fmla="val 12727"/>
            </a:avLst>
          </a:prstGeom>
          <a:solidFill>
            <a:srgbClr val="0891B2">
              <a:alpha val="85000"/>
            </a:srgbClr>
          </a:solidFill>
          <a:ln w="12700">
            <a:solidFill>
              <a:srgbClr val="0891B2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2801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4 tipos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52160" y="12801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Alertas tempranas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9202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Sistema genera alertas automáticas de sequía, inundación, helada y estrés térmico antes de que afecten la producción.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06324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200400"/>
            <a:ext cx="914400" cy="502920"/>
          </a:xfrm>
          <a:prstGeom prst="roundRect">
            <a:avLst>
              <a:gd name="adj" fmla="val 12727"/>
            </a:avLst>
          </a:prstGeom>
          <a:solidFill>
            <a:srgbClr val="2D6A4F">
              <a:alpha val="85000"/>
            </a:srgbClr>
          </a:solidFill>
          <a:ln w="12700">
            <a:solidFill>
              <a:srgbClr val="2D6A4F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200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6A4F"/>
                </a:solidFill>
              </a:rPr>
              <a:t>6 meses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2004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Planificación anticipada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38404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Escenarios ENSO permiten prepararse hasta 3-6 meses antes de eventos climáticos que impactan la seguridad alimentaria.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306324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3200400"/>
            <a:ext cx="914400" cy="502920"/>
          </a:xfrm>
          <a:prstGeom prst="roundRect">
            <a:avLst>
              <a:gd name="adj" fmla="val 12727"/>
            </a:avLst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200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145k+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52160" y="32004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Datos abiertos efectivos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8404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Demuestra que 145,000 registros EVA disponibles en datos.gov.co pueden transformarse en decisiones agrícolas accionables.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 del Dataset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298448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1B4332">
              <a:alpha val="85000"/>
            </a:srgbClr>
          </a:solidFill>
          <a:ln w="12700">
            <a:solidFill>
              <a:srgbClr val="1B4332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2984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</a:rPr>
              <a:t>Alta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80160" y="1280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Precisión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155448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Fuente oficial UPRA · pd.to_numeric(errors='coerce')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10312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2212848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1B4332">
              <a:alpha val="85000"/>
            </a:srgbClr>
          </a:solidFill>
          <a:ln w="12700">
            <a:solidFill>
              <a:srgbClr val="1B4332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212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</a:rPr>
              <a:t>Alta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80160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Completitud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0160" y="246888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145k+ registros · 32 depts · 2019-2024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3127248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1B4332">
              <a:alpha val="85000"/>
            </a:srgbClr>
          </a:solidFill>
          <a:ln w="12700">
            <a:solidFill>
              <a:srgbClr val="1B4332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1272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</a:rPr>
              <a:t>Alta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80160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Coherencia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338328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_normalizar_df() · umbral rendimiento &lt; 50 t/ha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93192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4041648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1B4332">
              <a:alpha val="85000"/>
            </a:srgbClr>
          </a:solidFill>
          <a:ln w="12700">
            <a:solidFill>
              <a:srgbClr val="1B4332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0416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</a:rPr>
              <a:t>Alta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8016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Validez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80160" y="429768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Filtro rendimiento &gt; 0 · nulos como '—' no '0 ha'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118872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18888" y="1298448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1B4332">
              <a:alpha val="85000"/>
            </a:srgbClr>
          </a:solidFill>
          <a:ln w="12700">
            <a:solidFill>
              <a:srgbClr val="1B4332">
                <a:alpha val="7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12984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</a:rPr>
              <a:t>Alta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15000" y="1280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Unicidad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15000" y="155448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Deduplicación municipio + cultivo + año + periodo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210312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18888" y="2212848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2212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Media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715000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Integridad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15000" y="246888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Registros 2024 sin área — fuente aún incompleta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301752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18888" y="3127248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8888" y="31272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Media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715000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Puntualidad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715000" y="338328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Cache TTL 24h · sync automático PostgreSQL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6400800" cy="6400800"/>
          </a:xfrm>
          <a:prstGeom prst="ellipse">
            <a:avLst/>
          </a:prstGeom>
          <a:solidFill>
            <a:srgbClr val="2D6A4F">
              <a:alpha val="35000"/>
            </a:srgbClr>
          </a:solidFill>
          <a:ln w="12700">
            <a:solidFill>
              <a:srgbClr val="2D6A4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2D6A4F">
              <a:alpha val="25000"/>
            </a:srgbClr>
          </a:solidFill>
          <a:ln w="12700">
            <a:solidFill>
              <a:srgbClr val="2D6A4F">
                <a:alpha val="2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5943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AgroVision AI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46304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Conectando datos abiertos, inteligencia artificial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conocimiento agroclimático para transformar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toma de decisiones en el campo colombiano.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3017520"/>
            <a:ext cx="22860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320040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E4C7"/>
                </a:solidFill>
              </a:rPr>
              <a:t>🌿  EVA · NASA · NOAA · OpenWeather · DANE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356616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E4C7"/>
                </a:solidFill>
              </a:rPr>
              <a:t>🤖  Random Forest · MAE 3.4 t/ha · R² 60.4%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393192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E4C7"/>
                </a:solidFill>
              </a:rPr>
              <a:t>⚡  FastAPI · Next.js · PostgreSQL · Docker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429768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E4C7"/>
                </a:solidFill>
              </a:rPr>
              <a:t>📊  12,177 registros únicos · 32 departamentos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B788"/>
                </a:solidFill>
              </a:rPr>
              <a:t>Concurso Datos al Ecosistema 2026 – Ministerio TIC · ID 31 July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AgroVision AI — Concurso Datos al Ecosistema 2026 – Ministerio TIC</dc:title>
  <dc:subject>PptxGenJS Presentation</dc:subject>
  <dc:creator>AgroVision AI</dc:creator>
  <cp:lastModifiedBy>AgroVision AI</cp:lastModifiedBy>
  <cp:revision>1</cp:revision>
  <dcterms:created xsi:type="dcterms:W3CDTF">2026-06-28T23:32:14Z</dcterms:created>
  <dcterms:modified xsi:type="dcterms:W3CDTF">2026-06-28T23:32:14Z</dcterms:modified>
</cp:coreProperties>
</file>